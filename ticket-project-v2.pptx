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E8A2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80101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20574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트래픽 폭증 대응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티켓 예매 서비스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제어 · 대기열 설계 · DB 복제 · 실시간 이상탐지 — 설계부터 실전 검증까지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709160"/>
            <a:ext cx="4754880" cy="0"/>
          </a:xfrm>
          <a:prstGeom prst="line">
            <a:avLst/>
          </a:prstGeom>
          <a:noFill/>
          <a:ln w="12700">
            <a:solidFill>
              <a:srgbClr val="3A4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92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Fusion 8-VM 인프라 · 172.16.60.0/24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· Suricata · nmap · Nikto 자체 검증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  ·  최시은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이 프로젝트인가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627632"/>
            <a:ext cx="5943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일반적인 웹 서비스 포트폴리오는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"기능이 동작하는가"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초점을 맞춘다.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티켓 예매는 그보다 더 중요한 질문이 걸린 도메인이다 —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1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"공격받거나 트래픽이 폭증해도 안전하게 버티는가."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 하나에 정보보안 3요소(CIA)가 모두 걸려 있다.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4114800"/>
            <a:ext cx="5943600" cy="1874520"/>
          </a:xfrm>
          <a:prstGeom prst="roundRect">
            <a:avLst>
              <a:gd name="adj" fmla="val 390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4315968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목표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좌석 동시 클릭 시 중복판매가 발생하지 않는가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대기열 도입 시 트래픽 폭증 상황에서 에러율·응답시간이 개선되는가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40880" y="1627632"/>
            <a:ext cx="4480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69480" y="2130552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850" y="2209922"/>
            <a:ext cx="408188" cy="4081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010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기밀성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001000" y="2231136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회원·결제정보 유출, 내부망 스니핑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040880" y="3364992"/>
            <a:ext cx="4480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69480" y="3867912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850" y="3947282"/>
            <a:ext cx="408188" cy="4081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0100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무결성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001000" y="3968496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동시클릭으로 인한 중복판매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040880" y="5102352"/>
            <a:ext cx="4480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69480" y="5605272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850" y="5684642"/>
            <a:ext cx="408188" cy="4081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01000" y="5303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가용성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001000" y="5705856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오픈 순간 트래픽 폭증, DoS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대역 172.16.60.0/24  ·  VM 8대  ·  진입(Edge) · 처리(App) · 데이터(Data) 3계층 분리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947672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PC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31720" y="1947672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33172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queue-gate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33172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172.16.60.146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7680" y="1947672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9768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web-lb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2976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172.16.60.147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63640" y="1947672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636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was-01 / was-02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636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172.16.60.145 / 172.16.60.151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468880" y="2359152"/>
            <a:ext cx="-137160" cy="0"/>
          </a:xfrm>
          <a:prstGeom prst="line">
            <a:avLst/>
          </a:prstGeom>
          <a:noFill/>
          <a:ln w="25400">
            <a:solidFill>
              <a:srgbClr val="E8A23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60520" y="2359152"/>
            <a:ext cx="137160" cy="0"/>
          </a:xfrm>
          <a:prstGeom prst="line">
            <a:avLst/>
          </a:prstGeom>
          <a:noFill/>
          <a:ln w="25400">
            <a:solidFill>
              <a:srgbClr val="E8A23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2359152"/>
            <a:ext cx="137160" cy="0"/>
          </a:xfrm>
          <a:prstGeom prst="line">
            <a:avLst/>
          </a:prstGeom>
          <a:noFill/>
          <a:ln w="25400">
            <a:solidFill>
              <a:srgbClr val="E8A23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46120" y="382219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4A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2461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24612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172.16.60.144 · SETNX 원자연산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06440" y="382219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4A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80644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db-01 → replica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0644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172.16.60.143 → 172.16.60.148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389120" y="2770632"/>
            <a:ext cx="0" cy="1051560"/>
          </a:xfrm>
          <a:prstGeom prst="line">
            <a:avLst/>
          </a:prstGeom>
          <a:noFill/>
          <a:ln w="25400">
            <a:solidFill>
              <a:srgbClr val="E8A23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0" y="2770632"/>
            <a:ext cx="2560320" cy="0"/>
          </a:xfrm>
          <a:prstGeom prst="line">
            <a:avLst/>
          </a:prstGeom>
          <a:noFill/>
          <a:ln w="25400">
            <a:solidFill>
              <a:srgbClr val="E8A23C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6949440" y="2770632"/>
            <a:ext cx="0" cy="1051560"/>
          </a:xfrm>
          <a:prstGeom prst="line">
            <a:avLst/>
          </a:prstGeom>
          <a:noFill/>
          <a:ln w="25400">
            <a:solidFill>
              <a:srgbClr val="E8A23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23960" y="1947672"/>
            <a:ext cx="2724912" cy="2697480"/>
          </a:xfrm>
          <a:prstGeom prst="roundRect">
            <a:avLst>
              <a:gd name="adj" fmla="val 27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006840" y="208483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(172.16.60.142)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9006840" y="2450592"/>
            <a:ext cx="2359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유일 진입점 — 관리자는 이 서버를 거쳐서만 전 서버 22번 포트에 접근한다. 다른 경로의 SSH는 ufw로 전부 차단된다.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" y="4965192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10233D"/>
          </a:solidFill>
          <a:ln/>
        </p:spPr>
      </p:sp>
      <p:sp>
        <p:nvSpPr>
          <p:cNvPr id="34" name="Text 31"/>
          <p:cNvSpPr/>
          <p:nvPr/>
        </p:nvSpPr>
        <p:spPr>
          <a:xfrm>
            <a:off x="914400" y="5074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35" name="Text 32"/>
          <p:cNvSpPr/>
          <p:nvPr/>
        </p:nvSpPr>
        <p:spPr>
          <a:xfrm>
            <a:off x="914400" y="55869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서버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611880" y="5074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3611880" y="55869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포트 (queue-gate:80)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309360" y="5074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39" name="Text 36"/>
          <p:cNvSpPr/>
          <p:nvPr/>
        </p:nvSpPr>
        <p:spPr>
          <a:xfrm>
            <a:off x="6309360" y="55869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노출 내부 포트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006840" y="5074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9006840" y="55869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분리(진입/처리/데이터)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완성된 예매 서비스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queue-gate(172.16.60.146)로 실제 접속한 화면 — 설계가 실제로 동작하는 서비스로 완성됐다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089404" y="1645920"/>
            <a:ext cx="8010144" cy="5017190"/>
          </a:xfrm>
          <a:prstGeom prst="roundRect">
            <a:avLst>
              <a:gd name="adj" fmla="val 91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images/webpage-scre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62556" y="1719072"/>
            <a:ext cx="7863840" cy="48708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681855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대기열 → 좌석선택 → 결제 전체 플로우와 회원 로그인까지 실제 브라우저에서 동작한다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접속 경로 — 관리자 vs 일반 사용자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인프라를 완전히 분리된 두 경로로 접근 — 서로의 경로를 침범할 수 없다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8A23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27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7744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키 인증 · bastion 단일 진입점 경유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176272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4A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4944" y="230428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맥북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694944" y="2688336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57400" y="2633472"/>
            <a:ext cx="256032" cy="0"/>
          </a:xfrm>
          <a:prstGeom prst="line">
            <a:avLst/>
          </a:prstGeom>
          <a:noFill/>
          <a:ln w="25400">
            <a:solidFill>
              <a:srgbClr val="E8A2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0" y="314553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SSH:22 키인증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313432" y="2176272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368296" y="230428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2368296" y="2688336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172.16.60.142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730752" y="2633472"/>
            <a:ext cx="256032" cy="0"/>
          </a:xfrm>
          <a:prstGeom prst="line">
            <a:avLst/>
          </a:prstGeom>
          <a:noFill/>
          <a:ln w="25400">
            <a:solidFill>
              <a:srgbClr val="E8A2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02152" y="314553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ProxyJump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986784" y="2176272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041648" y="230428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was-01 / was-02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4041648" y="2688336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172.16.60.145 / 172.16.60.151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52744" y="2633472"/>
            <a:ext cx="256032" cy="0"/>
          </a:xfrm>
          <a:prstGeom prst="line">
            <a:avLst/>
          </a:prstGeom>
          <a:noFill/>
          <a:ln w="25400">
            <a:solidFill>
              <a:srgbClr val="E8A2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24144" y="314553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ProxyJump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208776" y="2176272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263640" y="230428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db-01(+replica)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263640" y="268833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172.16.60.144 / 172.16.60.143·172.16.60.148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677656" y="2633472"/>
            <a:ext cx="256032" cy="0"/>
          </a:xfrm>
          <a:prstGeom prst="line">
            <a:avLst/>
          </a:prstGeom>
          <a:noFill/>
          <a:ln w="25400">
            <a:solidFill>
              <a:srgbClr val="E8A2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49056" y="314553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ProxyJump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8933688" y="2176272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988552" y="23042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queue-gate / web-lb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8988552" y="268833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172.16.60.146 / 172.16.60.147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40080" y="3593592"/>
            <a:ext cx="10908792" cy="0"/>
          </a:xfrm>
          <a:prstGeom prst="line">
            <a:avLst/>
          </a:prstGeom>
          <a:noFill/>
          <a:ln w="15875">
            <a:solidFill>
              <a:srgbClr val="C0503D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640080" y="3648456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사용자는 이 경로에 접근 불가 — 22번 포트는 bastion IP에서만 허용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40080" y="405079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</p:sp>
      <p:sp>
        <p:nvSpPr>
          <p:cNvPr id="35" name="Text 32"/>
          <p:cNvSpPr/>
          <p:nvPr/>
        </p:nvSpPr>
        <p:spPr>
          <a:xfrm>
            <a:off x="640080" y="4050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PATH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377440" y="4050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 · 예매 페이지를 통한 서비스 이용만 가능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40080" y="4599432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4A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94944" y="469087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1080" dirty="0"/>
          </a:p>
        </p:txBody>
      </p:sp>
      <p:sp>
        <p:nvSpPr>
          <p:cNvPr id="39" name="Text 36"/>
          <p:cNvSpPr/>
          <p:nvPr/>
        </p:nvSpPr>
        <p:spPr>
          <a:xfrm>
            <a:off x="694944" y="5038344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(임의 IP)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331720" y="4988052"/>
            <a:ext cx="182880" cy="0"/>
          </a:xfrm>
          <a:prstGeom prst="line">
            <a:avLst/>
          </a:prstGeom>
          <a:noFill/>
          <a:ln w="25400">
            <a:solidFill>
              <a:srgbClr val="2E9E7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103120" y="5431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80/443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514600" y="4599432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2E9E7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2569464" y="469087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queue-gate</a:t>
            </a:r>
            <a:endParaRPr lang="en-US" sz="1080" dirty="0"/>
          </a:p>
        </p:txBody>
      </p:sp>
      <p:sp>
        <p:nvSpPr>
          <p:cNvPr id="44" name="Text 41"/>
          <p:cNvSpPr/>
          <p:nvPr/>
        </p:nvSpPr>
        <p:spPr>
          <a:xfrm>
            <a:off x="2569464" y="5038344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172.16.60.146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206240" y="4988052"/>
            <a:ext cx="182880" cy="0"/>
          </a:xfrm>
          <a:prstGeom prst="line">
            <a:avLst/>
          </a:prstGeom>
          <a:noFill/>
          <a:ln w="25400">
            <a:solidFill>
              <a:srgbClr val="2E9E7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977640" y="5431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4389120" y="4599432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2E9E7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4443984" y="469087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web-lb</a:t>
            </a:r>
            <a:endParaRPr lang="en-US" sz="1080" dirty="0"/>
          </a:p>
        </p:txBody>
      </p:sp>
      <p:sp>
        <p:nvSpPr>
          <p:cNvPr id="49" name="Text 46"/>
          <p:cNvSpPr/>
          <p:nvPr/>
        </p:nvSpPr>
        <p:spPr>
          <a:xfrm>
            <a:off x="4443984" y="5038344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172.16.60.147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080760" y="4988052"/>
            <a:ext cx="182880" cy="0"/>
          </a:xfrm>
          <a:prstGeom prst="line">
            <a:avLst/>
          </a:prstGeom>
          <a:noFill/>
          <a:ln w="25400">
            <a:solidFill>
              <a:srgbClr val="2E9E7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852160" y="5431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6263640" y="4599432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E9E7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6318504" y="46908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was-01/02</a:t>
            </a:r>
            <a:endParaRPr lang="en-US" sz="1080" dirty="0"/>
          </a:p>
        </p:txBody>
      </p:sp>
      <p:sp>
        <p:nvSpPr>
          <p:cNvPr id="54" name="Text 51"/>
          <p:cNvSpPr/>
          <p:nvPr/>
        </p:nvSpPr>
        <p:spPr>
          <a:xfrm>
            <a:off x="6318504" y="503834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172.16.60.145 / 172.16.60.151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183880" y="4988052"/>
            <a:ext cx="182880" cy="0"/>
          </a:xfrm>
          <a:prstGeom prst="line">
            <a:avLst/>
          </a:prstGeom>
          <a:noFill/>
          <a:ln w="25400">
            <a:solidFill>
              <a:srgbClr val="2E9E7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955280" y="5431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6379/3306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366760" y="4599432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2E9E7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8421624" y="46908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db-01</a:t>
            </a:r>
            <a:endParaRPr lang="en-US" sz="1080" dirty="0"/>
          </a:p>
        </p:txBody>
      </p:sp>
      <p:sp>
        <p:nvSpPr>
          <p:cNvPr id="59" name="Text 56"/>
          <p:cNvSpPr/>
          <p:nvPr/>
        </p:nvSpPr>
        <p:spPr>
          <a:xfrm>
            <a:off x="8421624" y="503834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172.16.60.144 / 172.16.60.143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방화벽 설정 매트릭스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원칙 — 전 서버 ufw default-deny + 출발지 IP 화이트리스트만 허용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27632"/>
          <a:ext cx="10908792" cy="3977640"/>
        </p:xfrm>
        <a:graphic>
          <a:graphicData uri="http://schemas.openxmlformats.org/drawingml/2006/table">
            <a:tbl>
              <a:tblPr/>
              <a:tblGrid>
                <a:gridCol w="2331720"/>
                <a:gridCol w="1188720"/>
                <a:gridCol w="4206240"/>
                <a:gridCol w="3182112"/>
              </a:tblGrid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허용 출발지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 (관리자 PC)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진입점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queue-gate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80, 443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(공개)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진입점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queue-gate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web-lb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80, 443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대기열 통과 트래픽만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was-01 / was-02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수신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172.16.60.145, .151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좌석 원자연산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172.16.60.145, .151, .148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쓰기 + 복제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db-01-replica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172.16.60.145, .151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읽기 전용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 서버 공통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관리용 (bastion 예외)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806440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58064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허용되지 않은 것은 전부 차단이 기본 상태 — 규칙을 빠뜨려도 안전한 방향(닫힘)으로 실패한다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설계 결정 3가지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"흔히 쓰니까"가 아니라, 대안과 비교해 선택했다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1901952"/>
            <a:ext cx="685800" cy="685800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1997964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724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원자연산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914400" y="31821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트랜잭션 락 대신 SETNX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14400" y="3593592"/>
            <a:ext cx="297180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3730752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락은 동시요청이 몰릴수록 대기열이 길어져 응답이 느려진다. Redis는 단일 스레드 원자적 명령으로 즉시 처리 — 100건 동시요청에서도 평균 30ms대 유지.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34256" y="1627632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54296" y="1901952"/>
            <a:ext cx="685800" cy="685800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308" y="1997964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08576" y="2724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대기열 (Rate Limiting)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4608576" y="31821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느리게 처리 아닌 초과분 즉시 거절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08576" y="3593592"/>
            <a:ext cx="297180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08576" y="3730752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초과 요청을 큐에 쌓으면 서버 자원이 고갈된다(실측 응답 60초). 429로 즉시 거절하면 서버는 항상 감당 가능한 용량 안에서만 일한다.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28432" y="1627632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48472" y="1901952"/>
            <a:ext cx="685800" cy="685800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484" y="1997964"/>
            <a:ext cx="493776" cy="4937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02752" y="2724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Read Replica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302752" y="31821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조회·쓰기 분리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302752" y="3593592"/>
            <a:ext cx="297180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302752" y="3730752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오픈 시 좌석 조회가 예약 확정보다 수십~수백 배 많다. 조회를 Replica로 분리해 쓰기 트랜잭션 지연을 방지한다.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1 — 좌석 동시성 제어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27632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10233D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373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100건 → 1건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35915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좌석 동시 요청 100건 중 성공은 정확히 1건, 나머지 99건은 409 즉시 거부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3182112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조건 3가지 — 모두 동일 결과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순차 curl 2회 (기본 동작 확인)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VU 100, 서버 내부 실행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VU 100, 외부 네트워크 경유 실행</a:t>
            </a:r>
            <a:endParaRPr lang="en-US" sz="1300" dirty="0"/>
          </a:p>
        </p:txBody>
      </p:sp>
      <p:pic>
        <p:nvPicPr>
          <p:cNvPr id="9" name="Image 1" descr="images/k6-seatra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74920" y="1627632"/>
            <a:ext cx="3977640" cy="22219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74920" y="39136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실행 결과 — checks 100%, VU 100 / iterations 100</a:t>
            </a:r>
            <a:endParaRPr lang="en-US" sz="1000" dirty="0"/>
          </a:p>
        </p:txBody>
      </p:sp>
      <p:pic>
        <p:nvPicPr>
          <p:cNvPr id="11" name="Image 2" descr="images/mysql-book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74920" y="4462272"/>
            <a:ext cx="5486400" cy="7589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4920" y="5285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조회 — 동일 좌석에 정확히 1행만 저장됨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40080" y="5193792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22960" y="5193792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판정: 3가지 조건 모두 합격 — Redis 원자연산이 순차/내부/외부 어떤 경로에서도 일관되게 동작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2 — 트래픽 폭증 대응 (대기열 효과)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300 급증 시나리오, 대기열 OFF vs ON 비교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C050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764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대기열 OFF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1305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60,000ms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29077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응답지연 — 사실상 응답 정지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69080" y="1627632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2E9E7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97680" y="1764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대기열 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97680" y="21305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108.8ms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297680" y="29077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응답지연 — 초과요청 즉시 429 거절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80960" y="21305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99.8%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감소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" y="3822192"/>
            <a:ext cx="1090879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50792"/>
          <a:ext cx="5120640" cy="141732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대기열 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대기열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checks_failed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처리 요청 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91,801건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864,696건 (약 9.4배)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" name="Image 1" descr="images/k6-noqueu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3959352"/>
            <a:ext cx="5577840" cy="2880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89320" y="61539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— 대기열 OFF 상태, 요청 타임아웃 발생 구간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이상탐지 — Suricata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627632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위치를 바꾼 이유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별도 monitor 서버에 배치 → 실제 트래픽 경로 밖이라 패킷 자체를 관찰할 수 없어 탐지 실패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트래픽이 지나가는 queue-gate(172.16.60.146)에 직접 설치하는 구조로 재설계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API 대상 반복요청 탐지 룰 구성 (임계치: 초당 20건/IP)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4507992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4645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결과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496519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K6로 공격 트래픽(VU 10, 15초)을 발생시키자, Suricata가 임계치를 초과하는 요청을 실시간(밀리초 단위 지연)으로 탐지하여 알림을 기록했다.</a:t>
            </a:r>
            <a:endParaRPr lang="en-US" sz="1200" dirty="0"/>
          </a:p>
        </p:txBody>
      </p:sp>
      <p:pic>
        <p:nvPicPr>
          <p:cNvPr id="9" name="Image 1" descr="images/k6-attacksi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627632"/>
            <a:ext cx="5486400" cy="2889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시뮬레이션 스크립트 실행 결과 (VU 10, 15s)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26480" y="5010912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EF2F7"/>
          </a:solidFill>
          <a:ln/>
        </p:spPr>
      </p:sp>
      <p:sp>
        <p:nvSpPr>
          <p:cNvPr id="12" name="Text 8"/>
          <p:cNvSpPr/>
          <p:nvPr/>
        </p:nvSpPr>
        <p:spPr>
          <a:xfrm>
            <a:off x="6355080" y="5010912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IDS는 탐지 룰의 정교함 이전에 "트래픽 경로 위에 있는가"가 우선한다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자체 모의해킹 — 포트 스캔 (nmap)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외부(맥북) 관점에서 3개 서버 대상 주요 포트 스캔 — 설계한 방화벽 정책과 실제 결과 대조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4650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web-lb (172.16.60.147)</a:t>
            </a:r>
            <a:endParaRPr lang="en-US" sz="1200" dirty="0"/>
          </a:p>
        </p:txBody>
      </p:sp>
      <p:pic>
        <p:nvPicPr>
          <p:cNvPr id="8" name="Image 1" descr="images/nmap-webl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2130552"/>
            <a:ext cx="3154680" cy="1051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3364992"/>
            <a:ext cx="3154680" cy="45720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3649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포트 filtered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34256" y="1627632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17136" y="174650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was-01 (172.16.60.145)</a:t>
            </a:r>
            <a:endParaRPr lang="en-US" sz="1200" dirty="0"/>
          </a:p>
        </p:txBody>
      </p:sp>
      <p:pic>
        <p:nvPicPr>
          <p:cNvPr id="13" name="Image 2" descr="images/nmap-was0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17136" y="2130552"/>
            <a:ext cx="3154680" cy="10515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17136" y="3364992"/>
            <a:ext cx="3154680" cy="45720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/>
        </p:spPr>
      </p:sp>
      <p:sp>
        <p:nvSpPr>
          <p:cNvPr id="15" name="Text 10"/>
          <p:cNvSpPr/>
          <p:nvPr/>
        </p:nvSpPr>
        <p:spPr>
          <a:xfrm>
            <a:off x="4517136" y="33649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포트 filtered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28432" y="1627632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211312" y="174650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queue-gate (172.16.60.146)</a:t>
            </a:r>
            <a:endParaRPr lang="en-US" sz="1200" dirty="0"/>
          </a:p>
        </p:txBody>
      </p:sp>
      <p:pic>
        <p:nvPicPr>
          <p:cNvPr id="18" name="Image 3" descr="images/nmap-queuegat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11312" y="2130552"/>
            <a:ext cx="3154680" cy="10515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11312" y="3364992"/>
            <a:ext cx="3154680" cy="457200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</p:sp>
      <p:sp>
        <p:nvSpPr>
          <p:cNvPr id="20" name="Text 14"/>
          <p:cNvSpPr/>
          <p:nvPr/>
        </p:nvSpPr>
        <p:spPr>
          <a:xfrm>
            <a:off x="8211312" y="33649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80만 open (설계대로)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5102352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10233D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102352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판정: 설계한 포트 매트릭스와 실제 스캔 결과가 정확히 일치 — queue-gate만 공개, 나머지 내부 서버는 허용되지 않은 출발지에게 전 포트 응답 없음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웹 취약점 점검 및 조치 (Nikto)</a:t>
            </a:r>
            <a:endParaRPr lang="en-US" sz="2500" dirty="0"/>
          </a:p>
        </p:txBody>
      </p:sp>
      <p:pic>
        <p:nvPicPr>
          <p:cNvPr id="5" name="Image 1" descr="images/nikto-sc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627632"/>
            <a:ext cx="7040880" cy="21762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384962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Nikto 1차 스캔 원문 — 보안 헤더 5종 누락 발견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33672"/>
          <a:ext cx="7040880" cy="1965960"/>
        </p:xfrm>
        <a:graphic>
          <a:graphicData uri="http://schemas.openxmlformats.org/drawingml/2006/table">
            <a:tbl>
              <a:tblPr/>
              <a:tblGrid>
                <a:gridCol w="2346960"/>
                <a:gridCol w="2346960"/>
                <a:gridCol w="2346960"/>
              </a:tblGrid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헤더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조치 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Content-Security-Policy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반영됨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Referrer-Policy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반영됨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Permissions-Policy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반영됨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X-Content-Type-Options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미반영 (재조사중)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Strict-Transport-Security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적용 후 예정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2" descr="images/nginx-header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09560" y="1627632"/>
            <a:ext cx="3657600" cy="99669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9095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 명령 — Nginx 보안 헤더 추가</a:t>
            </a:r>
            <a:endParaRPr lang="en-US" sz="950" dirty="0"/>
          </a:p>
        </p:txBody>
      </p:sp>
      <p:sp>
        <p:nvSpPr>
          <p:cNvPr id="10" name="Shape 4"/>
          <p:cNvSpPr/>
          <p:nvPr/>
        </p:nvSpPr>
        <p:spPr>
          <a:xfrm>
            <a:off x="7909560" y="3108960"/>
            <a:ext cx="3657600" cy="3090672"/>
          </a:xfrm>
          <a:prstGeom prst="roundRect">
            <a:avLst>
              <a:gd name="adj" fmla="val 23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8138160" y="32918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 처리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/ Vignette / FrontPage 관련 다수 항목은 범용 취약점 DB 기계적 대조에 의한 오탐으로 판단해 제외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중 3개 즉시 해결, 2개는 후속 조치 항목으로 문서화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 설정 실증 사례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redis(172.16.60.144) — 최소권한 방화벽 + 인증 설정 실제 확인</a:t>
            </a:r>
            <a:endParaRPr lang="en-US" sz="1250" dirty="0"/>
          </a:p>
        </p:txBody>
      </p:sp>
      <p:pic>
        <p:nvPicPr>
          <p:cNvPr id="6" name="Image 1" descr="images/redis-uf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627632"/>
            <a:ext cx="4206240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4782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상태 — was-01(6379)·bastion(22)만 허용</a:t>
            </a:r>
            <a:endParaRPr lang="en-US" sz="1000" dirty="0"/>
          </a:p>
        </p:txBody>
      </p:sp>
      <p:pic>
        <p:nvPicPr>
          <p:cNvPr id="8" name="Image 2" descr="images/redis-p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20640" y="1627632"/>
            <a:ext cx="4206240" cy="5394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20640" y="2267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redis-cli 인증 접속 — PONG 응답 확인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5120640" y="2816352"/>
            <a:ext cx="6336792" cy="2148840"/>
          </a:xfrm>
          <a:prstGeom prst="roundRect">
            <a:avLst>
              <a:gd name="adj" fmla="val 3404"/>
            </a:avLst>
          </a:prstGeom>
          <a:solidFill>
            <a:srgbClr val="10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349240" y="2999232"/>
            <a:ext cx="58795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8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확인된 것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requirepass 인증 없이는 캐시 데이터 접근·조작 불가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bind를 내부 IP로 고정해 다른 대역에서 포트 자체 연결 불가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허용된 출발지(was-01/02, bastion) 외에는 ufw가 조용히 차단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120640" y="5148072"/>
            <a:ext cx="6336792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3" name="Text 8"/>
          <p:cNvSpPr/>
          <p:nvPr/>
        </p:nvSpPr>
        <p:spPr>
          <a:xfrm>
            <a:off x="5349240" y="5148072"/>
            <a:ext cx="5879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방식(default-deny + 화이트리스트)을 8개 서버 전체에 일관 적용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서버별 방화벽 확인 명령어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ufw status verbose — 한 줄이면 그 서버의 접근 허용 규칙 전체가 나온다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27632"/>
          <a:ext cx="10908792" cy="34290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3017520"/>
                <a:gridCol w="4142232"/>
              </a:tblGrid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기대 결과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ufw status verbose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22만 172.16.60.1(관리자)에서 허용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queue-gate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ufw status verbose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80,443 전체 허용 / 22는 bastion만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web-lb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ufw status verbose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80,443은 172.16.60.146만 / 22는 bastion만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was-01/02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172.16.60.145 / 172.16.60.151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ufw status verbose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3000은 172.16.60.147만 / 22는 bastion만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ufw status verbose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6379는 was-01,02만 / 22는 bastion만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ufw status verbose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3306은 was-01,02,replica만 / 22는 bastion만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db-01-replica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172.16.60.148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ufw status verbose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3306은 was-01,02만 / 22는 bastion만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193792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EEF2F7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533095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명령이 보여주는 것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"Status: active"와 "Default: deny (incoming)"가 먼저 나오면 — 이 서버는 기본적으로 모든 접근을 차단한 상태에서, 아래 표에 나열된 규칙만 예외로 허용하고 있다는 뜻이다. 목록에 없는 IP·포트 조합은 어떤 것도 통과하지 못한다.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회원 인증 검증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· 로그인 잠금 · 비밀번호 변경 · 관리자 계정 만료 정책 실제 검증 (AUTH-2026-0707-01)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5367528" cy="2331720"/>
          </a:xfrm>
          <a:prstGeom prst="roundRect">
            <a:avLst>
              <a:gd name="adj" fmla="val 313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4650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→ DB 해시 확인</a:t>
            </a:r>
            <a:endParaRPr lang="en-US" sz="1150" dirty="0"/>
          </a:p>
        </p:txBody>
      </p:sp>
      <p:pic>
        <p:nvPicPr>
          <p:cNvPr id="8" name="Image 1" descr="images/auth-db-has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2084832"/>
            <a:ext cx="5001768" cy="1417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3547872"/>
            <a:ext cx="5001768" cy="347472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54787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해시 저장 확인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81344" y="1627632"/>
            <a:ext cx="5367528" cy="2331720"/>
          </a:xfrm>
          <a:prstGeom prst="roundRect">
            <a:avLst>
              <a:gd name="adj" fmla="val 313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364224" y="174650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실패 5회 → 423 잠금</a:t>
            </a:r>
            <a:endParaRPr lang="en-US" sz="1150" dirty="0"/>
          </a:p>
        </p:txBody>
      </p:sp>
      <p:pic>
        <p:nvPicPr>
          <p:cNvPr id="13" name="Image 2" descr="images/auth-login-lockou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64224" y="2084832"/>
            <a:ext cx="5001768" cy="1417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64224" y="3547872"/>
            <a:ext cx="5001768" cy="347472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</p:sp>
      <p:sp>
        <p:nvSpPr>
          <p:cNvPr id="15" name="Text 10"/>
          <p:cNvSpPr/>
          <p:nvPr/>
        </p:nvSpPr>
        <p:spPr>
          <a:xfrm>
            <a:off x="6364224" y="354787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카운터 "5" 확인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142232"/>
            <a:ext cx="5367528" cy="2331720"/>
          </a:xfrm>
          <a:prstGeom prst="roundRect">
            <a:avLst>
              <a:gd name="adj" fmla="val 313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22960" y="426110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변경 전/후 비교</a:t>
            </a:r>
            <a:endParaRPr lang="en-US" sz="1150" dirty="0"/>
          </a:p>
        </p:txBody>
      </p:sp>
      <p:pic>
        <p:nvPicPr>
          <p:cNvPr id="18" name="Image 3" descr="images/auth-change-pw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" y="4599432"/>
            <a:ext cx="5001768" cy="1417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2960" y="6062472"/>
            <a:ext cx="5001768" cy="347472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</p:sp>
      <p:sp>
        <p:nvSpPr>
          <p:cNvPr id="20" name="Text 14"/>
          <p:cNvSpPr/>
          <p:nvPr/>
        </p:nvSpPr>
        <p:spPr>
          <a:xfrm>
            <a:off x="822960" y="606247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해시값 변경 확인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81344" y="4142232"/>
            <a:ext cx="5367528" cy="2331720"/>
          </a:xfrm>
          <a:prstGeom prst="roundRect">
            <a:avLst>
              <a:gd name="adj" fmla="val 313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364224" y="426110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계정 90일 만료(chage)</a:t>
            </a:r>
            <a:endParaRPr lang="en-US" sz="1150" dirty="0"/>
          </a:p>
        </p:txBody>
      </p:sp>
      <p:pic>
        <p:nvPicPr>
          <p:cNvPr id="23" name="Image 4" descr="images/auth-chag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64224" y="4599432"/>
            <a:ext cx="5001768" cy="1417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364224" y="6062472"/>
            <a:ext cx="5001768" cy="347472"/>
          </a:xfrm>
          <a:prstGeom prst="roundRect">
            <a:avLst>
              <a:gd name="adj" fmla="val 50000"/>
            </a:avLst>
          </a:prstGeom>
          <a:solidFill>
            <a:srgbClr val="E8A23C"/>
          </a:solidFill>
          <a:ln/>
        </p:spPr>
      </p:sp>
      <p:sp>
        <p:nvSpPr>
          <p:cNvPr id="25" name="Text 18"/>
          <p:cNvSpPr/>
          <p:nvPr/>
        </p:nvSpPr>
        <p:spPr>
          <a:xfrm>
            <a:off x="6364224" y="6062472"/>
            <a:ext cx="5001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PASS_MAX_DAYS 90 반영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트러블슈팅 하이라이트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27632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7190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명칭 변경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68680" y="20665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mysql_secure_installation → mariadb-secure-installation (버전별 개명)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2926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복제 binlog 이슈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2735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재생성 이력(DROP USER)이 복제 로그에 남아 SQL_Running 정지 → skip_counter로 해결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40080" y="4041648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413308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배치 위치 재설계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4480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monitor 서버는 트래픽을 볼 수 없어 탐지 실패 → queue-gate로 재배치</a:t>
            </a:r>
            <a:endParaRPr lang="en-US" sz="1080" dirty="0"/>
          </a:p>
        </p:txBody>
      </p:sp>
      <p:pic>
        <p:nvPicPr>
          <p:cNvPr id="14" name="Image 1" descr="images/db01-err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69480" y="1627632"/>
            <a:ext cx="4251960" cy="21854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38679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오류 화면 — 명령어 명칭 변경으로 인한 최초 실패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269480" y="4325112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10233D"/>
          </a:solidFill>
          <a:ln/>
        </p:spPr>
      </p:sp>
      <p:sp>
        <p:nvSpPr>
          <p:cNvPr id="17" name="Text 13"/>
          <p:cNvSpPr/>
          <p:nvPr/>
        </p:nvSpPr>
        <p:spPr>
          <a:xfrm>
            <a:off x="7498080" y="448056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교훈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8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파일/설정을 만들었다고 가정하지 말고 즉시 확인한다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8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확장 시 연쇄적으로 영향받는 설정을 함께 갱신한다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8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로그로 원인이 안 보이면 포그라운드로 직접 실행한다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2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산출물 요약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27632"/>
            <a:ext cx="5303520" cy="2121408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7739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문서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221992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계획+실행 문서 (22p)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애플리케이션 취약점 분석(OWASP Top 10)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45352" y="1627632"/>
            <a:ext cx="5303520" cy="2121408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73952" y="17739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리포트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73952" y="2221992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부하테스트 결과 보고서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검증 리포트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모의해킹 결과 보고서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959352"/>
            <a:ext cx="5303520" cy="2121408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4105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구축 기록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4553712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복제 구축 기록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구축 리포트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종합 문서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45352" y="3959352"/>
            <a:ext cx="5303520" cy="2121408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73952" y="4105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코드/구현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73952" y="4553712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API·K6·Nginx·Suricata 스크립트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웹페이지, 서버 접속경로 다이어그램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트래픽 폭증 대응 티켓 예매 서비스</dc:title>
  <dc:subject>PptxGenJS Presentation</dc:subject>
  <dc:creator>최시은</dc:creator>
  <cp:lastModifiedBy>최시은</cp:lastModifiedBy>
  <cp:revision>1</cp:revision>
  <dcterms:created xsi:type="dcterms:W3CDTF">2026-07-07T06:52:10Z</dcterms:created>
  <dcterms:modified xsi:type="dcterms:W3CDTF">2026-07-07T06:52:10Z</dcterms:modified>
</cp:coreProperties>
</file>